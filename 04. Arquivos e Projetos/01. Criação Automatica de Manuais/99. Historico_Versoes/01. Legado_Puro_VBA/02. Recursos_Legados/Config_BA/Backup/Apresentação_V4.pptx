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7" r:id="rId8"/>
    <p:sldId id="263" r:id="rId9"/>
    <p:sldId id="265" r:id="rId10"/>
    <p:sldId id="266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86594-3D23-4246-916C-D524DD597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46BE2D-93EA-49DE-9D91-2897D7CF4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EA9079-56CE-4063-ADC6-0BD414640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80A4D5-801B-4D5C-A22A-C6405C6D1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877209-D57B-4FE2-A46B-B4AD94F89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2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05CDF0-1B79-4510-B0EB-4BCC37E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BFCE8C-FEB6-4F11-BFF9-2B4032155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4461AF-2736-43CF-B9BC-69A965447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E6A66F-DD8F-489F-A9F5-9ABC947B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9C3A496-E308-4C9B-91C6-F96130B13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703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CB4683-3365-4731-846F-2552B6485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B639D13-5CF7-44F8-89AD-2798A9CB9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CB1309-E05D-4480-914A-7DDE8D99A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3BA2F7-E222-4E29-A8B6-B2DCA29C6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E1B9A3-F168-401E-8B3A-DB07C8F3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31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C5366F-5D0A-48A8-9C40-E24DEE640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84F40C-35FF-415E-BA9B-F686BA58ED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E5485E-DEB1-4ADE-80C7-7D9FD4D35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B284DF-9C42-41A6-A154-131F2D947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3C8882-4780-4841-8C59-0245545B6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E09D91-6778-403C-9BEF-AD213ECF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69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74B44-0A2C-4F8B-99C4-B1E2BE46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ABDB84-CDA6-4F35-862B-3D0CDEABD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A715DC-22E3-47A6-BEAB-529CB0BFD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FEA5930-F476-46CA-8859-D719E7ACA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323C11-5126-4D80-A816-9F067C4B59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6979B50-F6FA-44EC-A8EC-F90ADFF13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8886A39-CFD3-41A9-A4DE-0941CF784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1D85043-97FC-4885-A910-38DC6B0B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93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5999F-5DEF-4A00-B647-9435C84D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C5CBE41-3DF8-47D6-8C2D-982344CE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19F1985-4EEB-4CEE-8EE7-542CCBB76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A761EDB-1FAE-4432-A1C5-4477D1F1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893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20E0964-7141-4EDE-8D73-7F78D74CC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A8A5271-745C-4DAC-BE0E-C231D082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1560B1-E92F-426B-8A49-0138BF57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11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AD2FE-D323-4B3B-A225-84222495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A8BE95-3AE1-4938-B000-A57A9E5F7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E33193-23C7-41AF-9BF9-E8CCBCD9F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192AC0-0A77-4ECC-8053-C2E008BC1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2942D0-8EBF-4CAE-BA3B-78A7A6B2E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947B05-96FF-4371-998E-ECF4F0D70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9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BFAAE3-920C-4FF2-8FAF-BE11C23E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B149BC-A235-40EB-8DF9-EEE1B82126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5600BB-AD16-414E-87EA-775BAF959E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CEB7DD-FDB7-4758-95E0-5FA835CFD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0C00F3C-B986-468D-BBFC-415F97A9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8E0198-A506-4E01-A7FF-F312F11E3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75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3F4A7E-FFFF-483B-A67A-309E5359D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40F3F2C-8EBF-461D-9384-26C0349876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BF2202-13BB-4BBB-B01B-7E5597FB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F81E93-4DCD-415F-9269-525F969EA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D2A43-60B5-480C-BBB8-D2F827F50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1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C0831E7-B91C-4E63-801D-C4782B4BE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7FD4345-91DC-4656-B90F-9B10E21F03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810204-A47C-4A5C-9F27-7BC4B514A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E80353-7079-4B9F-B88F-92DEBFE65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80EA4E1-E5CF-42E5-9CD8-6202B2E5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91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9957808-8828-468B-89DE-8E83C6D7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49E8522-4022-4E1A-B106-D681E3C45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252A09D-F0B0-4219-B22E-23D9118B3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54C7FA-F962-43DF-9C50-16154609728F}" type="datetimeFigureOut">
              <a:rPr lang="en-US" smtClean="0"/>
              <a:t>2/8/2023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4C22CA-8AD4-40DE-9357-63BDC979C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8858BF-9A44-457C-9312-7C6051860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9B12B-E735-4A9F-BDEC-82ADEE1A701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57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25A3E7C-4182-45A5-8E92-B84FFB7D2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887" y="1244960"/>
            <a:ext cx="6725589" cy="1581371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9CB44D1-DE1B-4F5B-9582-A6061CDEA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887" y="3872973"/>
            <a:ext cx="8592749" cy="141942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3E381DC-D17D-4F5F-BAF9-E937DF1654F8}"/>
              </a:ext>
            </a:extLst>
          </p:cNvPr>
          <p:cNvSpPr txBox="1"/>
          <p:nvPr/>
        </p:nvSpPr>
        <p:spPr>
          <a:xfrm>
            <a:off x="1226302" y="406538"/>
            <a:ext cx="94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ETAPA 1</a:t>
            </a:r>
            <a:endParaRPr lang="en-US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C24232-5327-4FBE-A504-58CA00179072}"/>
              </a:ext>
            </a:extLst>
          </p:cNvPr>
          <p:cNvSpPr txBox="1"/>
          <p:nvPr/>
        </p:nvSpPr>
        <p:spPr>
          <a:xfrm>
            <a:off x="1700887" y="2789441"/>
            <a:ext cx="58099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Limpe as informações existentes para novo preenchimento.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22E0DE-01AC-4FDB-B864-302E21D89C9D}"/>
              </a:ext>
            </a:extLst>
          </p:cNvPr>
          <p:cNvSpPr txBox="1"/>
          <p:nvPr/>
        </p:nvSpPr>
        <p:spPr>
          <a:xfrm>
            <a:off x="1700886" y="5428374"/>
            <a:ext cx="7341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Selecione a máquina/sistema correspondente para início do preenchimento.</a:t>
            </a:r>
            <a:endParaRPr lang="en-US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8487F09-553A-4B59-BC39-B21E3E1C0AC0}"/>
              </a:ext>
            </a:extLst>
          </p:cNvPr>
          <p:cNvSpPr txBox="1"/>
          <p:nvPr/>
        </p:nvSpPr>
        <p:spPr>
          <a:xfrm>
            <a:off x="7510811" y="2814099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Não seguir</a:t>
            </a:r>
          </a:p>
        </p:txBody>
      </p:sp>
    </p:spTree>
    <p:extLst>
      <p:ext uri="{BB962C8B-B14F-4D97-AF65-F5344CB8AC3E}">
        <p14:creationId xmlns:p14="http://schemas.microsoft.com/office/powerpoint/2010/main" val="204133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5A9FF17-67B0-40C4-AE64-70D83AA91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987" y="3199933"/>
            <a:ext cx="4191585" cy="206530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8029286C-76EA-4368-ACFD-B9CFF3CA2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308" y="2859355"/>
            <a:ext cx="4183964" cy="355903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3F135E5-D542-41AB-8006-66DCCCCED5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887" y="1075968"/>
            <a:ext cx="6866578" cy="114315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0CFFF92-CDF4-4ABB-BA27-5B0A4774A1B3}"/>
              </a:ext>
            </a:extLst>
          </p:cNvPr>
          <p:cNvSpPr txBox="1"/>
          <p:nvPr/>
        </p:nvSpPr>
        <p:spPr>
          <a:xfrm>
            <a:off x="1226302" y="406538"/>
            <a:ext cx="94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ETAPA 2</a:t>
            </a:r>
            <a:endParaRPr lang="en-US" b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286F5F4-0825-4C58-A7F8-04942DB56002}"/>
              </a:ext>
            </a:extLst>
          </p:cNvPr>
          <p:cNvSpPr txBox="1"/>
          <p:nvPr/>
        </p:nvSpPr>
        <p:spPr>
          <a:xfrm>
            <a:off x="1700887" y="2322278"/>
            <a:ext cx="6548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Aperte o botão de “Informações gerais” e insira os dados do projeto.</a:t>
            </a:r>
            <a:endParaRPr lang="en-US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A7C6565-564C-4B9A-89B2-6E95AE0F13F2}"/>
              </a:ext>
            </a:extLst>
          </p:cNvPr>
          <p:cNvSpPr txBox="1"/>
          <p:nvPr/>
        </p:nvSpPr>
        <p:spPr>
          <a:xfrm>
            <a:off x="1700887" y="5311899"/>
            <a:ext cx="51705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Este processo deve ser feito antes de gerar o manual,</a:t>
            </a:r>
            <a:br>
              <a:rPr lang="pt-BR" dirty="0"/>
            </a:br>
            <a:r>
              <a:rPr lang="pt-BR" dirty="0"/>
              <a:t>porém não segue uma ordem em relação ao </a:t>
            </a:r>
            <a:br>
              <a:rPr lang="pt-BR" dirty="0"/>
            </a:br>
            <a:r>
              <a:rPr lang="pt-BR" dirty="0"/>
              <a:t>preenchimento das páginas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19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F9D4381-DA7A-4FFD-B05C-06BDAE10A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4525"/>
            <a:ext cx="12192000" cy="424692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7E2DF6E-4890-4EC3-B06B-AFD4B103B2D4}"/>
              </a:ext>
            </a:extLst>
          </p:cNvPr>
          <p:cNvSpPr txBox="1"/>
          <p:nvPr/>
        </p:nvSpPr>
        <p:spPr>
          <a:xfrm>
            <a:off x="1226302" y="406538"/>
            <a:ext cx="2193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ETAPA 3 - OPICIONAL</a:t>
            </a:r>
            <a:endParaRPr lang="en-US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E520A7B-7795-4970-8003-AB217ABB6012}"/>
              </a:ext>
            </a:extLst>
          </p:cNvPr>
          <p:cNvSpPr txBox="1"/>
          <p:nvPr/>
        </p:nvSpPr>
        <p:spPr>
          <a:xfrm>
            <a:off x="1628495" y="5660100"/>
            <a:ext cx="89927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Na página de “Componentes integrados”, se aplicável, preencha os dados como demonstrado.</a:t>
            </a:r>
          </a:p>
          <a:p>
            <a:r>
              <a:rPr lang="pt-BR" dirty="0"/>
              <a:t>Toda página pode ser limpa por completo através do botão demonstrado.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893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D1670B1-4969-4624-884D-D19689C7ED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8813"/>
          <a:stretch/>
        </p:blipFill>
        <p:spPr>
          <a:xfrm>
            <a:off x="0" y="970206"/>
            <a:ext cx="12192000" cy="4502127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3D6D17E6-0F33-450D-98A4-774B5A00AB5E}"/>
              </a:ext>
            </a:extLst>
          </p:cNvPr>
          <p:cNvSpPr txBox="1"/>
          <p:nvPr/>
        </p:nvSpPr>
        <p:spPr>
          <a:xfrm>
            <a:off x="1226302" y="406538"/>
            <a:ext cx="94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ETAPA 4</a:t>
            </a:r>
            <a:endParaRPr lang="en-US" b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16C4D75-22C8-4FAA-893A-6A91EA60A5E3}"/>
              </a:ext>
            </a:extLst>
          </p:cNvPr>
          <p:cNvSpPr txBox="1"/>
          <p:nvPr/>
        </p:nvSpPr>
        <p:spPr>
          <a:xfrm>
            <a:off x="1648930" y="5805131"/>
            <a:ext cx="8894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Aperte o botão “Componentes mecânicos e selecione os componentes aplicáveis, em alguns casos uma lista de opções será apresentada.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8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0B356E9-A7B8-4979-B9A4-59BC218E1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1019"/>
          <a:stretch/>
        </p:blipFill>
        <p:spPr>
          <a:xfrm>
            <a:off x="1660541" y="4298591"/>
            <a:ext cx="8870918" cy="221191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6985E2A1-A920-4B53-8056-8A1FB8A71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562" y="1425385"/>
            <a:ext cx="8710876" cy="2172003"/>
          </a:xfrm>
          <a:prstGeom prst="rect">
            <a:avLst/>
          </a:prstGeom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A5381426-02FB-4CCB-8577-CCB31AC4DA99}"/>
              </a:ext>
            </a:extLst>
          </p:cNvPr>
          <p:cNvSpPr/>
          <p:nvPr/>
        </p:nvSpPr>
        <p:spPr>
          <a:xfrm rot="5400000">
            <a:off x="5879614" y="3803810"/>
            <a:ext cx="432771" cy="288359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00F083-23EC-4164-81CB-FEAE1CEBA1A7}"/>
              </a:ext>
            </a:extLst>
          </p:cNvPr>
          <p:cNvSpPr txBox="1"/>
          <p:nvPr/>
        </p:nvSpPr>
        <p:spPr>
          <a:xfrm>
            <a:off x="1504750" y="517855"/>
            <a:ext cx="8894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As páginas devem ser navegadas pela aba mostrada.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86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7792E630-7FA8-4CBC-AAFC-2A01DF0C2581}"/>
              </a:ext>
            </a:extLst>
          </p:cNvPr>
          <p:cNvSpPr txBox="1"/>
          <p:nvPr/>
        </p:nvSpPr>
        <p:spPr>
          <a:xfrm>
            <a:off x="1226302" y="406538"/>
            <a:ext cx="94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ETAPA 5</a:t>
            </a:r>
            <a:endParaRPr lang="en-US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DF89102-E41C-4B5D-9183-5324BFDE7BCC}"/>
              </a:ext>
            </a:extLst>
          </p:cNvPr>
          <p:cNvSpPr txBox="1"/>
          <p:nvPr/>
        </p:nvSpPr>
        <p:spPr>
          <a:xfrm>
            <a:off x="3661151" y="5882519"/>
            <a:ext cx="4869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Repita o processo para os componentes elétricos. </a:t>
            </a:r>
            <a:endParaRPr lang="en-US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3FEB31D-A236-4025-9401-34B05B16B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9263"/>
            <a:ext cx="12192000" cy="445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59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6D6A8DC-C353-46AC-B2BB-D9C6B958B0C2}"/>
              </a:ext>
            </a:extLst>
          </p:cNvPr>
          <p:cNvSpPr txBox="1"/>
          <p:nvPr/>
        </p:nvSpPr>
        <p:spPr>
          <a:xfrm>
            <a:off x="1780032" y="761766"/>
            <a:ext cx="8631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ocasiões visadas necessárias, foram adicionadas explicações especificas da estrutura, as quais podem ser vistas movendo o mouse por cima do item destacado.</a:t>
            </a:r>
            <a:endParaRPr lang="en-US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91356D3-973D-4CF1-A509-90F4F8D481E3}"/>
              </a:ext>
            </a:extLst>
          </p:cNvPr>
          <p:cNvGrpSpPr/>
          <p:nvPr/>
        </p:nvGrpSpPr>
        <p:grpSpPr>
          <a:xfrm>
            <a:off x="0" y="1646838"/>
            <a:ext cx="12192000" cy="4297600"/>
            <a:chOff x="0" y="1646838"/>
            <a:chExt cx="12192000" cy="4297600"/>
          </a:xfrm>
        </p:grpSpPr>
        <p:grpSp>
          <p:nvGrpSpPr>
            <p:cNvPr id="10" name="Agrupar 9">
              <a:extLst>
                <a:ext uri="{FF2B5EF4-FFF2-40B4-BE49-F238E27FC236}">
                  <a16:creationId xmlns:a16="http://schemas.microsoft.com/office/drawing/2014/main" id="{4E40B006-317A-458F-9D21-053452365D55}"/>
                </a:ext>
              </a:extLst>
            </p:cNvPr>
            <p:cNvGrpSpPr/>
            <p:nvPr/>
          </p:nvGrpSpPr>
          <p:grpSpPr>
            <a:xfrm>
              <a:off x="0" y="1646838"/>
              <a:ext cx="12192000" cy="4297600"/>
              <a:chOff x="0" y="1646838"/>
              <a:chExt cx="12192000" cy="4297600"/>
            </a:xfrm>
          </p:grpSpPr>
          <p:grpSp>
            <p:nvGrpSpPr>
              <p:cNvPr id="5" name="Agrupar 4">
                <a:extLst>
                  <a:ext uri="{FF2B5EF4-FFF2-40B4-BE49-F238E27FC236}">
                    <a16:creationId xmlns:a16="http://schemas.microsoft.com/office/drawing/2014/main" id="{8D9E8104-E1DA-4348-8216-4E5DD34EDCED}"/>
                  </a:ext>
                </a:extLst>
              </p:cNvPr>
              <p:cNvGrpSpPr/>
              <p:nvPr/>
            </p:nvGrpSpPr>
            <p:grpSpPr>
              <a:xfrm>
                <a:off x="0" y="2012300"/>
                <a:ext cx="12192000" cy="3932138"/>
                <a:chOff x="0" y="2250044"/>
                <a:chExt cx="12192000" cy="3932138"/>
              </a:xfrm>
            </p:grpSpPr>
            <p:pic>
              <p:nvPicPr>
                <p:cNvPr id="2" name="Imagem 1">
                  <a:extLst>
                    <a:ext uri="{FF2B5EF4-FFF2-40B4-BE49-F238E27FC236}">
                      <a16:creationId xmlns:a16="http://schemas.microsoft.com/office/drawing/2014/main" id="{E0A1CC9E-0E09-4F86-A10E-F5CEC4F054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0" y="2250044"/>
                  <a:ext cx="12192000" cy="3932138"/>
                </a:xfrm>
                <a:prstGeom prst="rect">
                  <a:avLst/>
                </a:prstGeom>
              </p:spPr>
            </p:pic>
            <p:sp>
              <p:nvSpPr>
                <p:cNvPr id="4" name="Elipse 3">
                  <a:extLst>
                    <a:ext uri="{FF2B5EF4-FFF2-40B4-BE49-F238E27FC236}">
                      <a16:creationId xmlns:a16="http://schemas.microsoft.com/office/drawing/2014/main" id="{4BA13D64-A0FA-42E8-A3AA-5D163661A61F}"/>
                    </a:ext>
                  </a:extLst>
                </p:cNvPr>
                <p:cNvSpPr/>
                <p:nvPr/>
              </p:nvSpPr>
              <p:spPr>
                <a:xfrm>
                  <a:off x="27432" y="2250044"/>
                  <a:ext cx="722376" cy="730900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6" name="Seta: para a Direita 5">
                <a:extLst>
                  <a:ext uri="{FF2B5EF4-FFF2-40B4-BE49-F238E27FC236}">
                    <a16:creationId xmlns:a16="http://schemas.microsoft.com/office/drawing/2014/main" id="{D2FA5BF0-3BB4-4C78-808F-E0B63B40659E}"/>
                  </a:ext>
                </a:extLst>
              </p:cNvPr>
              <p:cNvSpPr/>
              <p:nvPr/>
            </p:nvSpPr>
            <p:spPr>
              <a:xfrm rot="4747511">
                <a:off x="11196518" y="1947982"/>
                <a:ext cx="155448" cy="128636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99BFC7DC-F674-4393-96FC-56C527247854}"/>
                  </a:ext>
                </a:extLst>
              </p:cNvPr>
              <p:cNvSpPr txBox="1"/>
              <p:nvPr/>
            </p:nvSpPr>
            <p:spPr>
              <a:xfrm>
                <a:off x="10292353" y="1646838"/>
                <a:ext cx="18081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/>
                  <a:t>Vai para o topo da página.</a:t>
                </a:r>
                <a:endParaRPr lang="en-US" sz="1200" dirty="0"/>
              </a:p>
            </p:txBody>
          </p:sp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C68AF6E7-0705-42FF-8EA3-B8578A561AFB}"/>
                  </a:ext>
                </a:extLst>
              </p:cNvPr>
              <p:cNvSpPr txBox="1"/>
              <p:nvPr/>
            </p:nvSpPr>
            <p:spPr>
              <a:xfrm>
                <a:off x="118872" y="3976693"/>
                <a:ext cx="18013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/>
                  <a:t>Informa o topo da página.</a:t>
                </a:r>
                <a:endParaRPr lang="en-US" sz="1200" dirty="0"/>
              </a:p>
            </p:txBody>
          </p:sp>
          <p:sp>
            <p:nvSpPr>
              <p:cNvPr id="9" name="Seta: para a Direita 8">
                <a:extLst>
                  <a:ext uri="{FF2B5EF4-FFF2-40B4-BE49-F238E27FC236}">
                    <a16:creationId xmlns:a16="http://schemas.microsoft.com/office/drawing/2014/main" id="{D440D95A-D1FF-4EEB-91C7-A12C2A5DE070}"/>
                  </a:ext>
                </a:extLst>
              </p:cNvPr>
              <p:cNvSpPr/>
              <p:nvPr/>
            </p:nvSpPr>
            <p:spPr>
              <a:xfrm rot="13912206">
                <a:off x="751787" y="3811523"/>
                <a:ext cx="155448" cy="128636"/>
              </a:xfrm>
              <a:prstGeom prst="rightArrow">
                <a:avLst/>
              </a:prstGeom>
              <a:solidFill>
                <a:srgbClr val="C0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Seta: para a Direita 10">
              <a:extLst>
                <a:ext uri="{FF2B5EF4-FFF2-40B4-BE49-F238E27FC236}">
                  <a16:creationId xmlns:a16="http://schemas.microsoft.com/office/drawing/2014/main" id="{7953E537-9FEB-465B-ABE5-473970C12EBC}"/>
                </a:ext>
              </a:extLst>
            </p:cNvPr>
            <p:cNvSpPr/>
            <p:nvPr/>
          </p:nvSpPr>
          <p:spPr>
            <a:xfrm rot="5400000">
              <a:off x="9943990" y="3103137"/>
              <a:ext cx="155448" cy="128636"/>
            </a:xfrm>
            <a:prstGeom prst="rightArrow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52F38679-5D0D-4072-A8B2-BCE05DE9C8F6}"/>
                </a:ext>
              </a:extLst>
            </p:cNvPr>
            <p:cNvSpPr txBox="1"/>
            <p:nvPr/>
          </p:nvSpPr>
          <p:spPr>
            <a:xfrm>
              <a:off x="9068990" y="2753737"/>
              <a:ext cx="203408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Abre o conteúdo relacionado.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921078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2696F7A-67E4-45C7-9491-D2C051859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597" y="977951"/>
            <a:ext cx="10602805" cy="452119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7F63BFA-F65C-40A0-945F-26BA4CBDEACA}"/>
              </a:ext>
            </a:extLst>
          </p:cNvPr>
          <p:cNvSpPr txBox="1"/>
          <p:nvPr/>
        </p:nvSpPr>
        <p:spPr>
          <a:xfrm>
            <a:off x="1226302" y="406538"/>
            <a:ext cx="94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ETAPA 6</a:t>
            </a:r>
            <a:endParaRPr lang="en-US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157782-6044-4F4F-97DD-1BEB2B8C0381}"/>
              </a:ext>
            </a:extLst>
          </p:cNvPr>
          <p:cNvSpPr txBox="1"/>
          <p:nvPr/>
        </p:nvSpPr>
        <p:spPr>
          <a:xfrm>
            <a:off x="1226302" y="5701228"/>
            <a:ext cx="9900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seleção da IHM pode ser realizada preenchendo o modelo aplicável ou selecionando-o na lista ao topo da página. Atualmente apenas modelos apresentados na lista estão cadastrados no banco de dados.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632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274DBEC-F5A4-4EC0-8768-E8B56C4E21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943" y="956461"/>
            <a:ext cx="6554114" cy="1295581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0AAED45-1AE4-423F-B8E3-2B65965AF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7410" y="2410599"/>
            <a:ext cx="5537179" cy="291505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8A6914F-E2B0-48A3-8B46-D53F52AFBB8B}"/>
              </a:ext>
            </a:extLst>
          </p:cNvPr>
          <p:cNvSpPr txBox="1"/>
          <p:nvPr/>
        </p:nvSpPr>
        <p:spPr>
          <a:xfrm>
            <a:off x="1226302" y="406538"/>
            <a:ext cx="94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ETAPA 7</a:t>
            </a:r>
            <a:endParaRPr lang="en-US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52860D7-D973-4C31-ABE1-2961F66AB81C}"/>
              </a:ext>
            </a:extLst>
          </p:cNvPr>
          <p:cNvSpPr txBox="1"/>
          <p:nvPr/>
        </p:nvSpPr>
        <p:spPr>
          <a:xfrm>
            <a:off x="1226302" y="5701228"/>
            <a:ext cx="9900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casos especiais, exceções ao modelo são aplicadas, esses casos estão descritos como apresentado. Sempre abra esta tela através do botão e confirme mesmo sem nenhuma seleção.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61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05187EAE-8F02-49E9-A4FD-3158FAA7220A}"/>
              </a:ext>
            </a:extLst>
          </p:cNvPr>
          <p:cNvSpPr txBox="1"/>
          <p:nvPr/>
        </p:nvSpPr>
        <p:spPr>
          <a:xfrm>
            <a:off x="1226302" y="406538"/>
            <a:ext cx="94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ETAPA 8</a:t>
            </a:r>
            <a:endParaRPr lang="en-US" b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87E157-B72A-4F16-A632-01E8730B0D5D}"/>
              </a:ext>
            </a:extLst>
          </p:cNvPr>
          <p:cNvSpPr txBox="1"/>
          <p:nvPr/>
        </p:nvSpPr>
        <p:spPr>
          <a:xfrm>
            <a:off x="1470759" y="2164484"/>
            <a:ext cx="92512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Inicie a geração do arquivo. Caso falte informações, as mesmas serão detectadas.</a:t>
            </a:r>
          </a:p>
          <a:p>
            <a:endParaRPr lang="pt-BR" dirty="0"/>
          </a:p>
          <a:p>
            <a:r>
              <a:rPr lang="pt-BR" dirty="0"/>
              <a:t>Em caso de </a:t>
            </a:r>
            <a:r>
              <a:rPr lang="pt-BR" dirty="0" err="1"/>
              <a:t>retrofit</a:t>
            </a:r>
            <a:r>
              <a:rPr lang="pt-BR" dirty="0"/>
              <a:t> de IHM, apenas os componentes elétricos serão necessários, </a:t>
            </a:r>
            <a:br>
              <a:rPr lang="pt-BR" dirty="0"/>
            </a:br>
            <a:r>
              <a:rPr lang="pt-BR" dirty="0"/>
              <a:t>e um manual adequado será gerado.</a:t>
            </a:r>
          </a:p>
          <a:p>
            <a:endParaRPr lang="pt-BR" dirty="0"/>
          </a:p>
          <a:p>
            <a:r>
              <a:rPr lang="en-US" dirty="0" err="1"/>
              <a:t>Após</a:t>
            </a:r>
            <a:r>
              <a:rPr lang="en-US" dirty="0"/>
              <a:t> o </a:t>
            </a:r>
            <a:r>
              <a:rPr lang="en-US" dirty="0" err="1"/>
              <a:t>arquivo</a:t>
            </a:r>
            <a:r>
              <a:rPr lang="en-US" dirty="0"/>
              <a:t> ser Gerado, </a:t>
            </a:r>
            <a:r>
              <a:rPr lang="en-US" dirty="0" err="1"/>
              <a:t>aperte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botões</a:t>
            </a:r>
            <a:r>
              <a:rPr lang="en-US" dirty="0"/>
              <a:t> de “</a:t>
            </a:r>
            <a:r>
              <a:rPr lang="en-US" dirty="0" err="1"/>
              <a:t>Substituir</a:t>
            </a:r>
            <a:r>
              <a:rPr lang="en-US" dirty="0"/>
              <a:t> imagens” e “</a:t>
            </a:r>
            <a:r>
              <a:rPr lang="en-US" dirty="0" err="1"/>
              <a:t>Substituir</a:t>
            </a:r>
            <a:r>
              <a:rPr lang="en-US" dirty="0"/>
              <a:t> </a:t>
            </a:r>
            <a:r>
              <a:rPr lang="en-US" dirty="0" err="1"/>
              <a:t>tabelas</a:t>
            </a:r>
            <a:r>
              <a:rPr lang="en-US" dirty="0"/>
              <a:t>”,</a:t>
            </a:r>
            <a:br>
              <a:rPr lang="en-US" dirty="0"/>
            </a:br>
            <a:r>
              <a:rPr lang="en-US" dirty="0" err="1"/>
              <a:t>caso</a:t>
            </a:r>
            <a:r>
              <a:rPr lang="en-US" dirty="0"/>
              <a:t> o </a:t>
            </a:r>
            <a:r>
              <a:rPr lang="en-US" dirty="0" err="1"/>
              <a:t>arquivo</a:t>
            </a:r>
            <a:r>
              <a:rPr lang="en-US" dirty="0"/>
              <a:t> </a:t>
            </a:r>
            <a:r>
              <a:rPr lang="en-US" dirty="0" err="1"/>
              <a:t>apresente</a:t>
            </a:r>
            <a:r>
              <a:rPr lang="en-US" dirty="0"/>
              <a:t> </a:t>
            </a:r>
            <a:r>
              <a:rPr lang="en-US" dirty="0" err="1"/>
              <a:t>necessidade</a:t>
            </a:r>
            <a:r>
              <a:rPr lang="en-US" dirty="0"/>
              <a:t> de </a:t>
            </a:r>
            <a:r>
              <a:rPr lang="en-US" dirty="0" err="1"/>
              <a:t>tabela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imagem</a:t>
            </a:r>
            <a:r>
              <a:rPr lang="en-US" dirty="0"/>
              <a:t> </a:t>
            </a:r>
            <a:r>
              <a:rPr lang="en-US" dirty="0" err="1"/>
              <a:t>personalizada</a:t>
            </a:r>
            <a:r>
              <a:rPr lang="en-US" dirty="0"/>
              <a:t> as </a:t>
            </a:r>
            <a:r>
              <a:rPr lang="en-US" dirty="0" err="1"/>
              <a:t>mesmas</a:t>
            </a:r>
            <a:r>
              <a:rPr lang="en-US" dirty="0"/>
              <a:t> </a:t>
            </a:r>
            <a:r>
              <a:rPr lang="en-US" dirty="0" err="1"/>
              <a:t>serão</a:t>
            </a:r>
            <a:br>
              <a:rPr lang="en-US" dirty="0"/>
            </a:br>
            <a:r>
              <a:rPr lang="en-US" dirty="0" err="1"/>
              <a:t>descritas</a:t>
            </a:r>
            <a:r>
              <a:rPr lang="en-US" dirty="0"/>
              <a:t> (</a:t>
            </a:r>
            <a:r>
              <a:rPr lang="en-US" dirty="0" err="1"/>
              <a:t>também</a:t>
            </a:r>
            <a:r>
              <a:rPr lang="en-US" dirty="0"/>
              <a:t> </a:t>
            </a:r>
            <a:r>
              <a:rPr lang="en-US" dirty="0" err="1"/>
              <a:t>podem</a:t>
            </a:r>
            <a:r>
              <a:rPr lang="en-US" dirty="0"/>
              <a:t> ser </a:t>
            </a:r>
            <a:r>
              <a:rPr lang="en-US" dirty="0" err="1"/>
              <a:t>exibidos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exemplos</a:t>
            </a:r>
            <a:r>
              <a:rPr lang="en-US" dirty="0"/>
              <a:t> </a:t>
            </a:r>
            <a:r>
              <a:rPr lang="en-US" dirty="0" err="1"/>
              <a:t>temporários</a:t>
            </a:r>
            <a:r>
              <a:rPr lang="en-US" dirty="0"/>
              <a:t>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preferência</a:t>
            </a:r>
            <a:r>
              <a:rPr lang="en-US" dirty="0"/>
              <a:t>).</a:t>
            </a:r>
          </a:p>
          <a:p>
            <a:endParaRPr lang="en-US" dirty="0"/>
          </a:p>
          <a:p>
            <a:r>
              <a:rPr lang="en-US" dirty="0"/>
              <a:t>Revise o </a:t>
            </a:r>
            <a:r>
              <a:rPr lang="en-US" dirty="0" err="1"/>
              <a:t>arquivo</a:t>
            </a:r>
            <a:r>
              <a:rPr lang="en-US" dirty="0"/>
              <a:t> com </a:t>
            </a:r>
            <a:r>
              <a:rPr lang="en-US" dirty="0" err="1"/>
              <a:t>foco</a:t>
            </a:r>
            <a:r>
              <a:rPr lang="en-US" dirty="0"/>
              <a:t> </a:t>
            </a:r>
            <a:r>
              <a:rPr lang="en-US" dirty="0" err="1"/>
              <a:t>nas</a:t>
            </a:r>
            <a:r>
              <a:rPr lang="en-US" dirty="0"/>
              <a:t> imagens e </a:t>
            </a:r>
            <a:r>
              <a:rPr lang="en-US" dirty="0" err="1"/>
              <a:t>tabelas</a:t>
            </a:r>
            <a:r>
              <a:rPr lang="en-US" dirty="0"/>
              <a:t> </a:t>
            </a:r>
            <a:r>
              <a:rPr lang="en-US" dirty="0" err="1"/>
              <a:t>alteradas</a:t>
            </a:r>
            <a:r>
              <a:rPr lang="en-US" dirty="0"/>
              <a:t>, e </a:t>
            </a:r>
            <a:r>
              <a:rPr lang="en-US" dirty="0" err="1"/>
              <a:t>verifique</a:t>
            </a:r>
            <a:r>
              <a:rPr lang="en-US" dirty="0"/>
              <a:t> se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páginas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branco</a:t>
            </a:r>
            <a:br>
              <a:rPr lang="en-US" dirty="0"/>
            </a:br>
            <a:r>
              <a:rPr lang="en-US" dirty="0"/>
              <a:t> </a:t>
            </a:r>
            <a:r>
              <a:rPr lang="en-US" dirty="0" err="1"/>
              <a:t>estão</a:t>
            </a:r>
            <a:r>
              <a:rPr lang="en-US" dirty="0"/>
              <a:t> </a:t>
            </a:r>
            <a:r>
              <a:rPr lang="en-US" dirty="0" err="1"/>
              <a:t>presentes</a:t>
            </a:r>
            <a:r>
              <a:rPr lang="en-US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008EDF-FF25-4385-929D-042D9DB10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80" y="937005"/>
            <a:ext cx="2286319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41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Agrupar 31">
            <a:extLst>
              <a:ext uri="{FF2B5EF4-FFF2-40B4-BE49-F238E27FC236}">
                <a16:creationId xmlns:a16="http://schemas.microsoft.com/office/drawing/2014/main" id="{E6EBAF62-67F3-460C-B987-A767AEF66D82}"/>
              </a:ext>
            </a:extLst>
          </p:cNvPr>
          <p:cNvGrpSpPr/>
          <p:nvPr/>
        </p:nvGrpSpPr>
        <p:grpSpPr>
          <a:xfrm>
            <a:off x="879514" y="503777"/>
            <a:ext cx="10684048" cy="5588297"/>
            <a:chOff x="912564" y="1528346"/>
            <a:chExt cx="10684048" cy="5588297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ED2B3276-F7E3-45E0-883F-C5A0FFD58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11658" y="1763935"/>
              <a:ext cx="6439798" cy="3254194"/>
            </a:xfrm>
            <a:prstGeom prst="rect">
              <a:avLst/>
            </a:prstGeom>
          </p:spPr>
        </p:pic>
        <p:sp>
          <p:nvSpPr>
            <p:cNvPr id="3" name="CaixaDeTexto 2">
              <a:extLst>
                <a:ext uri="{FF2B5EF4-FFF2-40B4-BE49-F238E27FC236}">
                  <a16:creationId xmlns:a16="http://schemas.microsoft.com/office/drawing/2014/main" id="{8B31B55E-07B5-4291-BF27-3F7A1E8C164D}"/>
                </a:ext>
              </a:extLst>
            </p:cNvPr>
            <p:cNvSpPr txBox="1"/>
            <p:nvPr/>
          </p:nvSpPr>
          <p:spPr>
            <a:xfrm>
              <a:off x="2711658" y="5018129"/>
              <a:ext cx="31161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Lista de conteúdo para ser alterado</a:t>
              </a:r>
              <a:endParaRPr lang="en-US" sz="1600" dirty="0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89F61078-F2E8-47A3-BA9D-20CF783733A2}"/>
                </a:ext>
              </a:extLst>
            </p:cNvPr>
            <p:cNvSpPr txBox="1"/>
            <p:nvPr/>
          </p:nvSpPr>
          <p:spPr>
            <a:xfrm>
              <a:off x="6538177" y="5018129"/>
              <a:ext cx="26132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Lista de arquivos adicionados</a:t>
              </a:r>
              <a:endParaRPr lang="en-US" sz="1600" dirty="0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C256FF4B-31D6-4378-A84F-1DF568F81AFD}"/>
                </a:ext>
              </a:extLst>
            </p:cNvPr>
            <p:cNvSpPr txBox="1"/>
            <p:nvPr/>
          </p:nvSpPr>
          <p:spPr>
            <a:xfrm>
              <a:off x="6387525" y="1528346"/>
              <a:ext cx="17539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Seleção de arquivo</a:t>
              </a:r>
              <a:endParaRPr lang="en-US" sz="1600" dirty="0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27FDB459-BD3A-47E0-9312-C7AC38E1278B}"/>
                </a:ext>
              </a:extLst>
            </p:cNvPr>
            <p:cNvSpPr txBox="1"/>
            <p:nvPr/>
          </p:nvSpPr>
          <p:spPr>
            <a:xfrm>
              <a:off x="921681" y="3597813"/>
              <a:ext cx="178997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Exemplos extraídos</a:t>
              </a:r>
              <a:endParaRPr lang="en-US" sz="1600" dirty="0"/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BEEAF854-1C58-4AD8-B4DB-F6EDBB352D3E}"/>
                </a:ext>
              </a:extLst>
            </p:cNvPr>
            <p:cNvSpPr txBox="1"/>
            <p:nvPr/>
          </p:nvSpPr>
          <p:spPr>
            <a:xfrm>
              <a:off x="9151456" y="3221755"/>
              <a:ext cx="169334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Confirmar seleção</a:t>
              </a:r>
              <a:endParaRPr lang="en-US" sz="1600" dirty="0"/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B51BA859-01C4-4BDD-829C-F7BA796B28E0}"/>
                </a:ext>
              </a:extLst>
            </p:cNvPr>
            <p:cNvSpPr txBox="1"/>
            <p:nvPr/>
          </p:nvSpPr>
          <p:spPr>
            <a:xfrm>
              <a:off x="9151455" y="4119942"/>
              <a:ext cx="24451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Excluir arquivo selecionado</a:t>
              </a:r>
              <a:endParaRPr lang="en-US" sz="1600" dirty="0"/>
            </a:p>
          </p:txBody>
        </p:sp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860982A0-0EEF-404A-BD69-42AAFAEFBFC4}"/>
                </a:ext>
              </a:extLst>
            </p:cNvPr>
            <p:cNvSpPr/>
            <p:nvPr/>
          </p:nvSpPr>
          <p:spPr>
            <a:xfrm>
              <a:off x="5643847" y="3487273"/>
              <a:ext cx="575419" cy="559633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id="{ACC3B8E8-CFE8-4B76-9F2E-308A7259ED0D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V="1">
              <a:off x="4269713" y="4458496"/>
              <a:ext cx="0" cy="55963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70877C8-673A-44A2-8EC8-439F44B6D2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44816" y="4458496"/>
              <a:ext cx="2" cy="55963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de Seta Reta 13">
              <a:extLst>
                <a:ext uri="{FF2B5EF4-FFF2-40B4-BE49-F238E27FC236}">
                  <a16:creationId xmlns:a16="http://schemas.microsoft.com/office/drawing/2014/main" id="{417856EC-2A12-4DFF-837C-82A6CDDC9674}"/>
                </a:ext>
              </a:extLst>
            </p:cNvPr>
            <p:cNvCxnSpPr>
              <a:cxnSpLocks/>
            </p:cNvCxnSpPr>
            <p:nvPr/>
          </p:nvCxnSpPr>
          <p:spPr>
            <a:xfrm>
              <a:off x="2669243" y="3786139"/>
              <a:ext cx="333037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de Seta Reta 15">
              <a:extLst>
                <a:ext uri="{FF2B5EF4-FFF2-40B4-BE49-F238E27FC236}">
                  <a16:creationId xmlns:a16="http://schemas.microsoft.com/office/drawing/2014/main" id="{1354A3CB-7EB7-4634-93B3-3473B5BAE4FB}"/>
                </a:ext>
              </a:extLst>
            </p:cNvPr>
            <p:cNvCxnSpPr>
              <a:cxnSpLocks/>
            </p:cNvCxnSpPr>
            <p:nvPr/>
          </p:nvCxnSpPr>
          <p:spPr>
            <a:xfrm>
              <a:off x="7264496" y="1866900"/>
              <a:ext cx="0" cy="54102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de Seta Reta 23">
              <a:extLst>
                <a:ext uri="{FF2B5EF4-FFF2-40B4-BE49-F238E27FC236}">
                  <a16:creationId xmlns:a16="http://schemas.microsoft.com/office/drawing/2014/main" id="{85749E34-0E57-4B27-800B-D39B99D1A7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0591" y="4289218"/>
              <a:ext cx="441794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de Seta Reta 25">
              <a:extLst>
                <a:ext uri="{FF2B5EF4-FFF2-40B4-BE49-F238E27FC236}">
                  <a16:creationId xmlns:a16="http://schemas.microsoft.com/office/drawing/2014/main" id="{8C94948F-5D7A-4322-9330-708EDDAC68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52077" y="3391032"/>
              <a:ext cx="441794" cy="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aixaDeTexto 26">
              <a:extLst>
                <a:ext uri="{FF2B5EF4-FFF2-40B4-BE49-F238E27FC236}">
                  <a16:creationId xmlns:a16="http://schemas.microsoft.com/office/drawing/2014/main" id="{0D4EAB4C-42CE-4A5D-BDFA-A73ADDB10BCF}"/>
                </a:ext>
              </a:extLst>
            </p:cNvPr>
            <p:cNvSpPr txBox="1"/>
            <p:nvPr/>
          </p:nvSpPr>
          <p:spPr>
            <a:xfrm>
              <a:off x="2163477" y="1528346"/>
              <a:ext cx="204863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Informações auxiliares</a:t>
              </a:r>
              <a:endParaRPr lang="en-US" sz="1600" dirty="0"/>
            </a:p>
          </p:txBody>
        </p:sp>
        <p:cxnSp>
          <p:nvCxnSpPr>
            <p:cNvPr id="28" name="Conector de Seta Reta 27">
              <a:extLst>
                <a:ext uri="{FF2B5EF4-FFF2-40B4-BE49-F238E27FC236}">
                  <a16:creationId xmlns:a16="http://schemas.microsoft.com/office/drawing/2014/main" id="{427CAB0E-24E9-41AB-8269-73AB4847DD90}"/>
                </a:ext>
              </a:extLst>
            </p:cNvPr>
            <p:cNvCxnSpPr>
              <a:cxnSpLocks/>
              <a:stCxn id="27" idx="2"/>
            </p:cNvCxnSpPr>
            <p:nvPr/>
          </p:nvCxnSpPr>
          <p:spPr>
            <a:xfrm>
              <a:off x="3187796" y="1866900"/>
              <a:ext cx="0" cy="43805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id="{FBCF4894-3341-4170-B08E-460B547B1BAB}"/>
                </a:ext>
              </a:extLst>
            </p:cNvPr>
            <p:cNvSpPr txBox="1"/>
            <p:nvPr/>
          </p:nvSpPr>
          <p:spPr>
            <a:xfrm>
              <a:off x="912564" y="5916314"/>
              <a:ext cx="103668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Os arquivos devem ser adicionados individualmente seguindo a ordem necessária para substituição.</a:t>
              </a:r>
            </a:p>
            <a:p>
              <a:r>
                <a:rPr lang="pt-BR" dirty="0"/>
                <a:t>O botão central destacado realiza o processo de substituição, o mesmo deve ser usado apenas 1 vez após inserir todos arquivos necessários na ordem correta.</a:t>
              </a:r>
              <a:br>
                <a:rPr lang="pt-BR" dirty="0"/>
              </a:br>
              <a:r>
                <a:rPr lang="pt-BR" dirty="0"/>
                <a:t>É recomendado salvar os arquivos usados para substituição em uma pasta juntamente com o manual gerado.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3190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F46FC4D-5353-4B6E-BBA0-93770EAC1E26}"/>
              </a:ext>
            </a:extLst>
          </p:cNvPr>
          <p:cNvSpPr txBox="1"/>
          <p:nvPr/>
        </p:nvSpPr>
        <p:spPr>
          <a:xfrm>
            <a:off x="1226302" y="406538"/>
            <a:ext cx="1461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FINALIZAÇÃO</a:t>
            </a:r>
            <a:endParaRPr lang="en-US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70BE3C0-BF35-47D8-915A-DD9534BE4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047" y="1161464"/>
            <a:ext cx="4667901" cy="226726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B84B7C4-E8F3-46DF-A739-F2B8A8D45F43}"/>
              </a:ext>
            </a:extLst>
          </p:cNvPr>
          <p:cNvSpPr txBox="1"/>
          <p:nvPr/>
        </p:nvSpPr>
        <p:spPr>
          <a:xfrm>
            <a:off x="912563" y="3814324"/>
            <a:ext cx="103668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Antes do arquivo ser fechado, uma tela para controle de preenchimento será exibida.</a:t>
            </a:r>
          </a:p>
          <a:p>
            <a:endParaRPr lang="pt-BR" dirty="0"/>
          </a:p>
          <a:p>
            <a:r>
              <a:rPr lang="pt-BR" dirty="0"/>
              <a:t>Nela será possível enviar um e-mail automático para os responsáveis definidos de cada área, ou verificar o mesmo.</a:t>
            </a:r>
          </a:p>
          <a:p>
            <a:endParaRPr lang="pt-BR" dirty="0"/>
          </a:p>
          <a:p>
            <a:r>
              <a:rPr lang="pt-BR" dirty="0"/>
              <a:t>Esse procedimento é importante para registrar e organizar a geração dos manuais de forma prática.</a:t>
            </a:r>
          </a:p>
        </p:txBody>
      </p:sp>
    </p:spTree>
    <p:extLst>
      <p:ext uri="{BB962C8B-B14F-4D97-AF65-F5344CB8AC3E}">
        <p14:creationId xmlns:p14="http://schemas.microsoft.com/office/powerpoint/2010/main" val="23653054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E7D9C29-5684-437D-8E70-55C49F8D8D4E}"/>
              </a:ext>
            </a:extLst>
          </p:cNvPr>
          <p:cNvGrpSpPr/>
          <p:nvPr/>
        </p:nvGrpSpPr>
        <p:grpSpPr>
          <a:xfrm>
            <a:off x="1961179" y="401506"/>
            <a:ext cx="8269640" cy="3353268"/>
            <a:chOff x="1961180" y="748978"/>
            <a:chExt cx="8269640" cy="3353268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0D231D3F-4746-45C0-82A8-2BC637184151}"/>
                </a:ext>
              </a:extLst>
            </p:cNvPr>
            <p:cNvGrpSpPr/>
            <p:nvPr/>
          </p:nvGrpSpPr>
          <p:grpSpPr>
            <a:xfrm>
              <a:off x="1961180" y="748978"/>
              <a:ext cx="8269640" cy="3353268"/>
              <a:chOff x="2662501" y="648394"/>
              <a:chExt cx="8269640" cy="3353268"/>
            </a:xfrm>
          </p:grpSpPr>
          <p:pic>
            <p:nvPicPr>
              <p:cNvPr id="2" name="Imagem 1">
                <a:extLst>
                  <a:ext uri="{FF2B5EF4-FFF2-40B4-BE49-F238E27FC236}">
                    <a16:creationId xmlns:a16="http://schemas.microsoft.com/office/drawing/2014/main" id="{FC5D03C3-6931-486C-8874-79AEA2707D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87976" y="648394"/>
                <a:ext cx="4944165" cy="3353268"/>
              </a:xfrm>
              <a:prstGeom prst="rect">
                <a:avLst/>
              </a:prstGeom>
            </p:spPr>
          </p:pic>
          <p:cxnSp>
            <p:nvCxnSpPr>
              <p:cNvPr id="3" name="Conector de Seta Reta 2">
                <a:extLst>
                  <a:ext uri="{FF2B5EF4-FFF2-40B4-BE49-F238E27FC236}">
                    <a16:creationId xmlns:a16="http://schemas.microsoft.com/office/drawing/2014/main" id="{B99F9BBF-42BC-4BC6-B4D0-C4F8F47541B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54896" y="2477977"/>
                <a:ext cx="433080" cy="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Conector de Seta Reta 5">
                <a:extLst>
                  <a:ext uri="{FF2B5EF4-FFF2-40B4-BE49-F238E27FC236}">
                    <a16:creationId xmlns:a16="http://schemas.microsoft.com/office/drawing/2014/main" id="{5BF9746D-48F6-48C7-87AF-771E9E3B96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54896" y="2909158"/>
                <a:ext cx="433080" cy="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Conector de Seta Reta 6">
                <a:extLst>
                  <a:ext uri="{FF2B5EF4-FFF2-40B4-BE49-F238E27FC236}">
                    <a16:creationId xmlns:a16="http://schemas.microsoft.com/office/drawing/2014/main" id="{710E01E5-5940-4D0A-8C82-4669E87767B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54896" y="3368765"/>
                <a:ext cx="433080" cy="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de Seta Reta 7">
                <a:extLst>
                  <a:ext uri="{FF2B5EF4-FFF2-40B4-BE49-F238E27FC236}">
                    <a16:creationId xmlns:a16="http://schemas.microsoft.com/office/drawing/2014/main" id="{EBB109E3-D1BC-4D29-AC89-F82111C20A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54896" y="3732880"/>
                <a:ext cx="433080" cy="1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98DF882-84B6-482A-BDC0-401918E56E39}"/>
                  </a:ext>
                </a:extLst>
              </p:cNvPr>
              <p:cNvSpPr txBox="1"/>
              <p:nvPr/>
            </p:nvSpPr>
            <p:spPr>
              <a:xfrm>
                <a:off x="2662501" y="2339477"/>
                <a:ext cx="289239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/>
                  <a:t>Situação do conteúdo referente à mecânica</a:t>
                </a:r>
                <a:endParaRPr lang="en-US" sz="1200" dirty="0"/>
              </a:p>
            </p:txBody>
          </p:sp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0D82D62-3BA8-4F6F-9420-785DE3EEF203}"/>
                  </a:ext>
                </a:extLst>
              </p:cNvPr>
              <p:cNvSpPr txBox="1"/>
              <p:nvPr/>
            </p:nvSpPr>
            <p:spPr>
              <a:xfrm>
                <a:off x="2662501" y="2770658"/>
                <a:ext cx="276620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200" dirty="0"/>
                  <a:t>Situação do conteúdo referente à elétrica</a:t>
                </a:r>
                <a:endParaRPr lang="en-US" sz="1200" dirty="0"/>
              </a:p>
            </p:txBody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CB7BECE2-F038-4EF5-AB74-6F0B162448BB}"/>
                  </a:ext>
                </a:extLst>
              </p:cNvPr>
              <p:cNvSpPr txBox="1"/>
              <p:nvPr/>
            </p:nvSpPr>
            <p:spPr>
              <a:xfrm>
                <a:off x="3599617" y="3230265"/>
                <a:ext cx="182909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/>
                  <a:t>Situação do procedimento</a:t>
                </a:r>
                <a:endParaRPr lang="en-US" sz="1200" dirty="0"/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DE3E5DB-4DE7-4871-8882-6F4B736B1B24}"/>
                  </a:ext>
                </a:extLst>
              </p:cNvPr>
              <p:cNvSpPr txBox="1"/>
              <p:nvPr/>
            </p:nvSpPr>
            <p:spPr>
              <a:xfrm>
                <a:off x="4222928" y="3594380"/>
                <a:ext cx="12057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200" dirty="0"/>
                  <a:t>Local do arquivo</a:t>
                </a:r>
                <a:endParaRPr lang="en-US" sz="1200" dirty="0"/>
              </a:p>
            </p:txBody>
          </p:sp>
        </p:grp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92F13996-31C1-4E87-B84F-A727F38078AA}"/>
                </a:ext>
              </a:extLst>
            </p:cNvPr>
            <p:cNvSpPr/>
            <p:nvPr/>
          </p:nvSpPr>
          <p:spPr>
            <a:xfrm>
              <a:off x="6940296" y="850392"/>
              <a:ext cx="1993392" cy="32918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DB31BAC-3D71-4818-8653-6A2753757928}"/>
              </a:ext>
            </a:extLst>
          </p:cNvPr>
          <p:cNvSpPr txBox="1"/>
          <p:nvPr/>
        </p:nvSpPr>
        <p:spPr>
          <a:xfrm>
            <a:off x="912564" y="3988605"/>
            <a:ext cx="1036687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destinatários serão preenchidos de acordo com o usuário registrado. </a:t>
            </a:r>
            <a:r>
              <a:rPr lang="pt-BR" dirty="0" err="1"/>
              <a:t>Ex</a:t>
            </a:r>
            <a:r>
              <a:rPr lang="pt-BR" dirty="0"/>
              <a:t>: Caso seja detectado ‘</a:t>
            </a:r>
            <a:r>
              <a:rPr lang="pt-BR" dirty="0" err="1"/>
              <a:t>pillingerr</a:t>
            </a:r>
            <a:r>
              <a:rPr lang="pt-BR" dirty="0"/>
              <a:t>’ como usuário, serão adicionados Victor Martinelli e Matheus Krystalas como destinatários.</a:t>
            </a:r>
          </a:p>
          <a:p>
            <a:endParaRPr lang="pt-BR" dirty="0"/>
          </a:p>
          <a:p>
            <a:r>
              <a:rPr lang="pt-BR" dirty="0"/>
              <a:t>A situação de preenchimento será mostrada separadamente entre mecânica e elétrica. A mensagem pode ser exibida de 2 maneiras, a primeira quando todo conteúdo apresenta a mesmo estado, e a segunda quando ‘abas de preenchimento’ registradas sob a área apresentam estados diversos.</a:t>
            </a:r>
          </a:p>
          <a:p>
            <a:endParaRPr lang="pt-BR" dirty="0"/>
          </a:p>
          <a:p>
            <a:r>
              <a:rPr lang="pt-BR" dirty="0"/>
              <a:t>Por fim será exibido se o manual pode ser gerado ou não, e o local onde o arquivo de preenchimento se encontra.</a:t>
            </a:r>
          </a:p>
        </p:txBody>
      </p:sp>
    </p:spTree>
    <p:extLst>
      <p:ext uri="{BB962C8B-B14F-4D97-AF65-F5344CB8AC3E}">
        <p14:creationId xmlns:p14="http://schemas.microsoft.com/office/powerpoint/2010/main" val="2018464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6F31C84E-FE8D-42FA-B6A5-1D41C1CA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352" y="280733"/>
            <a:ext cx="5243292" cy="1905266"/>
          </a:xfrm>
          <a:prstGeom prst="rect">
            <a:avLst/>
          </a:prstGeom>
          <a:ln>
            <a:noFill/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E2FEFC2B-129D-454A-A0E9-197F1667DE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346" y="2472556"/>
            <a:ext cx="10311299" cy="1912887"/>
          </a:xfrm>
          <a:prstGeom prst="rect">
            <a:avLst/>
          </a:prstGeom>
          <a:ln>
            <a:noFill/>
          </a:ln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97C1A8A-854E-44CC-A660-BC62EEFB18D3}"/>
              </a:ext>
            </a:extLst>
          </p:cNvPr>
          <p:cNvSpPr txBox="1"/>
          <p:nvPr/>
        </p:nvSpPr>
        <p:spPr>
          <a:xfrm>
            <a:off x="912559" y="4930413"/>
            <a:ext cx="103668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 caso do arquivo já ter sido gerado, um e-mail de acordo será enviado.</a:t>
            </a:r>
          </a:p>
          <a:p>
            <a:endParaRPr lang="pt-BR" dirty="0"/>
          </a:p>
          <a:p>
            <a:r>
              <a:rPr lang="pt-BR" dirty="0"/>
              <a:t>Em alguns casos foi definida a necessidade de alterar conteúdos após a geração, e portanto, o mesmo será informado no e-mail.</a:t>
            </a:r>
          </a:p>
        </p:txBody>
      </p:sp>
    </p:spTree>
    <p:extLst>
      <p:ext uri="{BB962C8B-B14F-4D97-AF65-F5344CB8AC3E}">
        <p14:creationId xmlns:p14="http://schemas.microsoft.com/office/powerpoint/2010/main" val="831571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1FC7E0E-BBBF-4588-897B-0A49A10BCCA7}"/>
              </a:ext>
            </a:extLst>
          </p:cNvPr>
          <p:cNvSpPr txBox="1"/>
          <p:nvPr/>
        </p:nvSpPr>
        <p:spPr>
          <a:xfrm>
            <a:off x="912564" y="1006269"/>
            <a:ext cx="10366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Para melhor organização é recomendado adicionar uma regra ao </a:t>
            </a:r>
            <a:r>
              <a:rPr lang="pt-BR" dirty="0" err="1"/>
              <a:t>outlook</a:t>
            </a:r>
            <a:r>
              <a:rPr lang="pt-BR" dirty="0"/>
              <a:t>, alocando todos e-mails sobre o assunto em pasta separada.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9945F9-A35F-43D2-AF9F-CF3AB8B1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564" y="2760564"/>
            <a:ext cx="4096322" cy="2553056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09F727D2-AD88-4E1B-A37B-DD57CE054725}"/>
              </a:ext>
            </a:extLst>
          </p:cNvPr>
          <p:cNvCxnSpPr/>
          <p:nvPr/>
        </p:nvCxnSpPr>
        <p:spPr>
          <a:xfrm>
            <a:off x="5485804" y="4027948"/>
            <a:ext cx="1081669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030B4C-5598-43B5-BEB4-01C98337FEFA}"/>
              </a:ext>
            </a:extLst>
          </p:cNvPr>
          <p:cNvGrpSpPr/>
          <p:nvPr/>
        </p:nvGrpSpPr>
        <p:grpSpPr>
          <a:xfrm>
            <a:off x="6868744" y="2646248"/>
            <a:ext cx="4410691" cy="2781688"/>
            <a:chOff x="6868744" y="1475816"/>
            <a:chExt cx="4410691" cy="2781688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E3DC748B-8B66-4481-8E58-FBCD9BA3A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8744" y="1475816"/>
              <a:ext cx="4410691" cy="2781688"/>
            </a:xfrm>
            <a:prstGeom prst="rect">
              <a:avLst/>
            </a:prstGeom>
          </p:spPr>
        </p:pic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5A6ACF2-B329-4C0A-B563-DAB088D87DB2}"/>
                </a:ext>
              </a:extLst>
            </p:cNvPr>
            <p:cNvSpPr/>
            <p:nvPr/>
          </p:nvSpPr>
          <p:spPr>
            <a:xfrm>
              <a:off x="7050024" y="2304288"/>
              <a:ext cx="4078224" cy="21945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87AB5E12-FBBF-42D8-83A5-D94724656A1D}"/>
                </a:ext>
              </a:extLst>
            </p:cNvPr>
            <p:cNvSpPr/>
            <p:nvPr/>
          </p:nvSpPr>
          <p:spPr>
            <a:xfrm>
              <a:off x="7034977" y="3517392"/>
              <a:ext cx="4078224" cy="3322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99581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674</Words>
  <Application>Microsoft Office PowerPoint</Application>
  <PresentationFormat>Widescreen</PresentationFormat>
  <Paragraphs>59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Krystalas, Matheus</dc:creator>
  <cp:lastModifiedBy>Krystalas, Matheus</cp:lastModifiedBy>
  <cp:revision>16</cp:revision>
  <dcterms:created xsi:type="dcterms:W3CDTF">2022-07-18T12:59:52Z</dcterms:created>
  <dcterms:modified xsi:type="dcterms:W3CDTF">2023-02-08T17:43:34Z</dcterms:modified>
</cp:coreProperties>
</file>